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>
                <a:solidFill>
                  <a:srgbClr val="1F3864"/>
                </a:solidFill>
                <a:latin typeface="Calibri"/>
              </a:rPr>
              <a:t>The Supplier Blindspot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Analytical Framework, Technical Solution, and Strategic Business Approach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3864"/>
                </a:solidFill>
                <a:latin typeface="Calibri"/>
              </a:rPr>
              <a:t>1. The 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Objective:</a:t>
            </a:r>
          </a:p>
          <a:p>
            <a:pPr lvl="1"/>
            <a:r>
              <a:t>Identify the root cause of financial leakages and supply chain inefficiencies among 34 suppliers over a 3-year period (4,800 POs).</a:t>
            </a:r>
          </a:p>
          <a:p>
            <a:r>
              <a:t>The 'Blindspot':</a:t>
            </a:r>
          </a:p>
          <a:p>
            <a:pPr lvl="1"/>
            <a:r>
              <a:t>Poor data visibility, off-master POs, and fragmented operations masked which suppliers were actually costing the business the most money.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3864"/>
                </a:solidFill>
                <a:latin typeface="Calibri"/>
              </a:rPr>
              <a:t>2. The Multi-Stage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we transformed raw data into actionable intelligence:</a:t>
            </a:r>
          </a:p>
          <a:p>
            <a:pPr lvl="1"/>
            <a:r>
              <a:t>Step 1: Attribution &amp; Unification</a:t>
            </a:r>
          </a:p>
          <a:p>
            <a:pPr lvl="2"/>
            <a:r>
              <a:t>Cleaned and mapped messy, off-master POs to their correct supplier IDs using algorithmic matching.</a:t>
            </a:r>
          </a:p>
          <a:p>
            <a:pPr lvl="1"/>
            <a:r>
              <a:t>Step 2: Financial Impact Modeling</a:t>
            </a:r>
          </a:p>
          <a:p>
            <a:pPr lvl="2"/>
            <a:r>
              <a:t>Transitioned away from vague operational metrics to hard financial losses.</a:t>
            </a:r>
          </a:p>
          <a:p>
            <a:pPr lvl="1"/>
            <a:r>
              <a:t>Step 3: Composite Scoring Engine</a:t>
            </a:r>
          </a:p>
          <a:p>
            <a:pPr lvl="2"/>
            <a:r>
              <a:t>Weighted scoring algorithm evaluating delivery, quality, and pricing.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3864"/>
                </a:solidFill>
                <a:latin typeface="Calibri"/>
              </a:rPr>
              <a:t>3. Financial Modeling (The A+B+C+D Framework)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operational failure was quantified into a unified Headline Rupee Loss:</a:t>
            </a:r>
          </a:p>
          <a:p>
            <a:pPr lvl="1"/>
            <a:r>
              <a:t>A*: Excess Billing Gap</a:t>
            </a:r>
          </a:p>
          <a:p>
            <a:pPr lvl="2"/>
            <a:r>
              <a:t>When invoice quantities exceeded received quantities beyond an acceptable baseline.</a:t>
            </a:r>
          </a:p>
          <a:p>
            <a:pPr lvl="1"/>
            <a:r>
              <a:t>B: Rejection Losses</a:t>
            </a:r>
          </a:p>
          <a:p>
            <a:pPr lvl="2"/>
            <a:r>
              <a:t>Material billed in full but subsequently rejected.</a:t>
            </a:r>
          </a:p>
          <a:p>
            <a:pPr lvl="1"/>
            <a:r>
              <a:t>C: Confirmed Returns</a:t>
            </a:r>
          </a:p>
          <a:p>
            <a:pPr lvl="2"/>
            <a:r>
              <a:t>Directly traced returned batches mapped to specific POs.</a:t>
            </a:r>
          </a:p>
          <a:p>
            <a:pPr lvl="1"/>
            <a:r>
              <a:t>D: Inferred Returns</a:t>
            </a:r>
          </a:p>
          <a:p>
            <a:pPr lvl="2"/>
            <a:r>
              <a:t>Untraced returns probabilistically allocated.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3864"/>
                </a:solidFill>
                <a:latin typeface="Calibri"/>
              </a:rPr>
              <a:t>4. Out-of-the-Box Business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differentiation in our approach:</a:t>
            </a:r>
          </a:p>
          <a:p>
            <a:pPr lvl="1"/>
            <a:r>
              <a:t>Probabilistic Financial Attribution</a:t>
            </a:r>
          </a:p>
          <a:p>
            <a:pPr lvl="2"/>
            <a:r>
              <a:t>Instead of writing off untraced returns, we assigned financial penalties based on historical quality failure rates to ensure accountability.</a:t>
            </a:r>
          </a:p>
          <a:p>
            <a:pPr lvl="1"/>
            <a:r>
              <a:t>Unified Rupee Impact</a:t>
            </a:r>
          </a:p>
          <a:p>
            <a:pPr lvl="2"/>
            <a:r>
              <a:t>Instead of reporting 'Supplier X is 5 days late', we converted every failure into an absolute financial loss to force immediate executive prioritization.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3864"/>
                </a:solidFill>
                <a:latin typeface="Calibri"/>
              </a:rPr>
              <a:t>5. Bridging Data &amp;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didn't just stop at a dashboard of numbers.</a:t>
            </a:r>
          </a:p>
          <a:p>
            <a:pPr lvl="1"/>
            <a:r>
              <a:t>Automated Negotiation Briefs</a:t>
            </a:r>
          </a:p>
          <a:p>
            <a:pPr lvl="2"/>
            <a:r>
              <a:t>We auto-generated structured strategy documents for the poorest performing suppliers.</a:t>
            </a:r>
          </a:p>
          <a:p>
            <a:pPr lvl="2"/>
            <a:r>
              <a:t>Empowers procurement managers with exact negotiation scripts.</a:t>
            </a:r>
          </a:p>
          <a:p>
            <a:pPr lvl="2"/>
            <a:r>
              <a:t>Creates corrective Action Plans tailored to the specific weakness of the supplier (e.g., if pricing is the issue, it pushes for panel-matching).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3864"/>
                </a:solidFill>
                <a:latin typeface="Calibri"/>
              </a:rPr>
              <a:t>6. The Delivered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culmination of our analysis:</a:t>
            </a:r>
          </a:p>
          <a:p>
            <a:pPr lvl="1"/>
            <a:r>
              <a:t>Zero-Backend Interactive Dashboard</a:t>
            </a:r>
          </a:p>
          <a:p>
            <a:pPr lvl="2"/>
            <a:r>
              <a:t>A lightning-fast, 100% client-side web application deployed to the cloud.</a:t>
            </a:r>
          </a:p>
          <a:p>
            <a:pPr lvl="1"/>
            <a:r>
              <a:t>34-Supplier Scorecard</a:t>
            </a:r>
          </a:p>
          <a:p>
            <a:pPr lvl="2"/>
            <a:r>
              <a:t>Searchable categorization of suppliers into POOR, WATCH, and ACCEPTABLE tiers.</a:t>
            </a:r>
          </a:p>
          <a:p>
            <a:pPr lvl="1"/>
            <a:r>
              <a:t>Visualized Financial Impact</a:t>
            </a:r>
          </a:p>
          <a:p>
            <a:pPr lvl="2"/>
            <a:r>
              <a:t>Dynamic charts exposing exact loss compositions to drive immediate ROI.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>
                <a:solidFill>
                  <a:srgbClr val="1F3864"/>
                </a:solidFill>
                <a:latin typeface="Calibri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403</Words>
  <Application>Microsoft Office PowerPoint</Application>
  <PresentationFormat>On-screen Show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The Supplier Blindspot</vt:lpstr>
      <vt:lpstr>1. The Business Challenge</vt:lpstr>
      <vt:lpstr>2. The Multi-Stage Data Pipeline</vt:lpstr>
      <vt:lpstr>3. Financial Modeling (The A+B+C+D Framework)</vt:lpstr>
      <vt:lpstr>4. Out-of-the-Box Business Strategy</vt:lpstr>
      <vt:lpstr>5. Bridging Data &amp; Execution</vt:lpstr>
      <vt:lpstr>6. The Delivered Solution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 Jadhav</cp:lastModifiedBy>
  <cp:revision>2</cp:revision>
  <dcterms:created xsi:type="dcterms:W3CDTF">2013-01-27T09:14:16Z</dcterms:created>
  <dcterms:modified xsi:type="dcterms:W3CDTF">2026-10-01T10:18:12Z</dcterms:modified>
  <cp:category/>
</cp:coreProperties>
</file>